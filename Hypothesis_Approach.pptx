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</p:sldIdLst>
  <p:sldSz cx="6858000" cy="9906000" type="A4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636" y="-3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17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3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2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2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7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4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0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9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3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3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22AD8-1461-413E-88B7-0A4B8F23A229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E7B75-05BD-4CB6-9C94-DC511FF49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0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7083" y="1101416"/>
            <a:ext cx="12695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Entire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dataset (E)</a:t>
            </a:r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4374" y="2421189"/>
            <a:ext cx="250390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endParaRPr lang="en-US" sz="823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7" name="Straight Arrow Connector 6"/>
          <p:cNvCxnSpPr>
            <a:stCxn id="5" idx="3"/>
            <a:endCxn id="8" idx="1"/>
          </p:cNvCxnSpPr>
          <p:nvPr/>
        </p:nvCxnSpPr>
        <p:spPr>
          <a:xfrm flipV="1">
            <a:off x="834764" y="2530626"/>
            <a:ext cx="237171" cy="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935" y="2421140"/>
            <a:ext cx="341760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NN</a:t>
            </a:r>
          </a:p>
        </p:txBody>
      </p:sp>
      <p:cxnSp>
        <p:nvCxnSpPr>
          <p:cNvPr id="10" name="Straight Arrow Connector 9"/>
          <p:cNvCxnSpPr>
            <a:stCxn id="8" idx="3"/>
            <a:endCxn id="11" idx="1"/>
          </p:cNvCxnSpPr>
          <p:nvPr/>
        </p:nvCxnSpPr>
        <p:spPr>
          <a:xfrm flipV="1">
            <a:off x="1413695" y="2530308"/>
            <a:ext cx="372727" cy="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6422" y="2420822"/>
            <a:ext cx="280846" cy="21897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960" y="1073284"/>
            <a:ext cx="1795744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961" y="1937961"/>
            <a:ext cx="422903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605" y="1937961"/>
            <a:ext cx="1374099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083" y="1475952"/>
            <a:ext cx="3565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Entire dataset (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E) split 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into Train (D), Validation (V) and Test (T) datasets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9960" y="1503508"/>
            <a:ext cx="909547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6192" y="1503947"/>
            <a:ext cx="479512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7082" y="1850612"/>
            <a:ext cx="3844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Train dataset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gets 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split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into Labeled 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(L) and Unlabeled (U) datasets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9508" y="1503508"/>
            <a:ext cx="406685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cxnSp>
        <p:nvCxnSpPr>
          <p:cNvPr id="3" name="Straight Arrow Connector 2"/>
          <p:cNvCxnSpPr>
            <a:stCxn id="15" idx="2"/>
            <a:endCxn id="21" idx="0"/>
          </p:cNvCxnSpPr>
          <p:nvPr/>
        </p:nvCxnSpPr>
        <p:spPr>
          <a:xfrm flipH="1">
            <a:off x="1034734" y="1292255"/>
            <a:ext cx="443098" cy="211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5" idx="2"/>
            <a:endCxn id="25" idx="0"/>
          </p:cNvCxnSpPr>
          <p:nvPr/>
        </p:nvCxnSpPr>
        <p:spPr>
          <a:xfrm>
            <a:off x="1477832" y="1292255"/>
            <a:ext cx="215019" cy="211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5" idx="2"/>
            <a:endCxn id="22" idx="0"/>
          </p:cNvCxnSpPr>
          <p:nvPr/>
        </p:nvCxnSpPr>
        <p:spPr>
          <a:xfrm>
            <a:off x="1477832" y="1292255"/>
            <a:ext cx="658116" cy="211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18" idx="0"/>
          </p:cNvCxnSpPr>
          <p:nvPr/>
        </p:nvCxnSpPr>
        <p:spPr>
          <a:xfrm>
            <a:off x="1034734" y="1722479"/>
            <a:ext cx="653921" cy="215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1" idx="2"/>
            <a:endCxn id="16" idx="0"/>
          </p:cNvCxnSpPr>
          <p:nvPr/>
        </p:nvCxnSpPr>
        <p:spPr>
          <a:xfrm flipH="1">
            <a:off x="791413" y="1722479"/>
            <a:ext cx="243321" cy="215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507082" y="2421140"/>
            <a:ext cx="3844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Use train dataset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 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 train a model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013" y="3052912"/>
            <a:ext cx="263214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cxnSp>
        <p:nvCxnSpPr>
          <p:cNvPr id="41" name="Straight Arrow Connector 40"/>
          <p:cNvCxnSpPr>
            <a:stCxn id="40" idx="3"/>
            <a:endCxn id="47" idx="1"/>
          </p:cNvCxnSpPr>
          <p:nvPr/>
        </p:nvCxnSpPr>
        <p:spPr>
          <a:xfrm flipV="1">
            <a:off x="848227" y="3152262"/>
            <a:ext cx="229000" cy="101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396356" y="2983466"/>
            <a:ext cx="280846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</a:p>
        </p:txBody>
      </p:sp>
      <p:cxnSp>
        <p:nvCxnSpPr>
          <p:cNvPr id="43" name="Straight Arrow Connector 42"/>
          <p:cNvCxnSpPr>
            <a:stCxn id="47" idx="3"/>
            <a:endCxn id="44" idx="1"/>
          </p:cNvCxnSpPr>
          <p:nvPr/>
        </p:nvCxnSpPr>
        <p:spPr>
          <a:xfrm flipV="1">
            <a:off x="1934202" y="3144326"/>
            <a:ext cx="225590" cy="7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159792" y="2999671"/>
            <a:ext cx="493213" cy="28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64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Optimal</a:t>
            </a:r>
          </a:p>
          <a:p>
            <a:pPr algn="ctr"/>
            <a:r>
              <a:rPr lang="en-US" sz="64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</a:t>
            </a:r>
            <a:r>
              <a:rPr lang="en-US" sz="64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3174" y="2986811"/>
            <a:ext cx="2810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Use validation dataset V and our model M plus a </a:t>
            </a:r>
            <a:r>
              <a:rPr lang="en-US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hyperparameter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strategy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en-US" sz="1000" dirty="0" err="1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Optuna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to get the best set of </a:t>
            </a:r>
            <a:r>
              <a:rPr lang="en-US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hyperparameter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values.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7227" y="2947141"/>
            <a:ext cx="856975" cy="4102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791" tIns="20896" rIns="41791" bIns="208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23"/>
          </a:p>
        </p:txBody>
      </p:sp>
      <p:sp>
        <p:nvSpPr>
          <p:cNvPr id="49" name="TextBox 48"/>
          <p:cNvSpPr txBox="1"/>
          <p:nvPr/>
        </p:nvSpPr>
        <p:spPr>
          <a:xfrm>
            <a:off x="1045818" y="3175726"/>
            <a:ext cx="893193" cy="1908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64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</a:t>
            </a:r>
            <a:r>
              <a:rPr lang="en-US" sz="64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Opt. Strat.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960" y="3678232"/>
            <a:ext cx="421644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823" smtClean="0"/>
              <a:t>∪</a:t>
            </a:r>
            <a:r>
              <a:rPr lang="en-US" sz="823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en-US" sz="823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79960" y="4069299"/>
            <a:ext cx="493213" cy="28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64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Optimal</a:t>
            </a:r>
          </a:p>
          <a:p>
            <a:pPr algn="ctr"/>
            <a:r>
              <a:rPr lang="en-US" sz="64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</a:t>
            </a:r>
            <a:r>
              <a:rPr lang="en-US" sz="64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85108" y="3867629"/>
            <a:ext cx="341760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NN</a:t>
            </a:r>
          </a:p>
        </p:txBody>
      </p:sp>
      <p:cxnSp>
        <p:nvCxnSpPr>
          <p:cNvPr id="59" name="Straight Arrow Connector 58"/>
          <p:cNvCxnSpPr>
            <a:stCxn id="54" idx="3"/>
            <a:endCxn id="57" idx="1"/>
          </p:cNvCxnSpPr>
          <p:nvPr/>
        </p:nvCxnSpPr>
        <p:spPr>
          <a:xfrm>
            <a:off x="1001604" y="3787718"/>
            <a:ext cx="383504" cy="189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6" idx="3"/>
            <a:endCxn id="57" idx="1"/>
          </p:cNvCxnSpPr>
          <p:nvPr/>
        </p:nvCxnSpPr>
        <p:spPr>
          <a:xfrm flipV="1">
            <a:off x="1073173" y="3977115"/>
            <a:ext cx="311935" cy="2368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694559" y="3956942"/>
            <a:ext cx="416292" cy="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119676" y="3873183"/>
            <a:ext cx="381836" cy="21897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23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n-US" sz="823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</a:t>
            </a:r>
            <a:endParaRPr lang="en-US" sz="823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883174" y="3771656"/>
            <a:ext cx="2810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Train a new model </a:t>
            </a:r>
            <a:r>
              <a:rPr lang="en-US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n-US" sz="10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with the join of the training and validation and the optimal </a:t>
            </a:r>
            <a:r>
              <a:rPr lang="en-US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hyperparameters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from the previous step.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4376" y="4709089"/>
            <a:ext cx="261610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</a:p>
        </p:txBody>
      </p:sp>
      <p:cxnSp>
        <p:nvCxnSpPr>
          <p:cNvPr id="76" name="Straight Arrow Connector 75"/>
          <p:cNvCxnSpPr>
            <a:stCxn id="75" idx="3"/>
            <a:endCxn id="77" idx="1"/>
          </p:cNvCxnSpPr>
          <p:nvPr/>
        </p:nvCxnSpPr>
        <p:spPr>
          <a:xfrm flipV="1">
            <a:off x="845986" y="4818527"/>
            <a:ext cx="225951" cy="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71937" y="4709041"/>
            <a:ext cx="381836" cy="218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23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n-US" sz="823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</a:t>
            </a:r>
            <a:endParaRPr lang="en-US" sz="823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78" name="Straight Arrow Connector 77"/>
          <p:cNvCxnSpPr>
            <a:stCxn id="77" idx="3"/>
            <a:endCxn id="79" idx="1"/>
          </p:cNvCxnSpPr>
          <p:nvPr/>
        </p:nvCxnSpPr>
        <p:spPr>
          <a:xfrm flipV="1">
            <a:off x="1453773" y="4818208"/>
            <a:ext cx="332650" cy="3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786423" y="4708722"/>
            <a:ext cx="349776" cy="21897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23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83174" y="4635316"/>
            <a:ext cx="281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Use the test dataset T and the optimal model </a:t>
            </a:r>
            <a:r>
              <a:rPr lang="en-US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n-US" sz="10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to calculate the loss  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6712" y="5141540"/>
            <a:ext cx="5460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3" indent="-139303">
              <a:buFont typeface="Arial" panose="020B0604020202020204" pitchFamily="34" charset="0"/>
              <a:buChar char="•"/>
            </a:pP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Log the regularization </a:t>
            </a:r>
            <a:r>
              <a:rPr lang="en-US" sz="1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hyperparameter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values, loss and the instances added to L so far.</a:t>
            </a:r>
          </a:p>
          <a:p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712" y="5875689"/>
            <a:ext cx="5460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3" indent="-139303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Select 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new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random instance </a:t>
            </a: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from U and move it to L.</a:t>
            </a:r>
          </a:p>
          <a:p>
            <a:pPr marL="139303" indent="-139303">
              <a:buFont typeface="Arial" panose="020B0604020202020204" pitchFamily="34" charset="0"/>
              <a:buChar char="•"/>
            </a:pPr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139303" indent="-139303">
              <a:buFont typeface="Arial" panose="020B0604020202020204" pitchFamily="34" charset="0"/>
              <a:buChar char="•"/>
            </a:pPr>
            <a:r>
              <a:rPr lang="en-US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Repeat the whole process until reaching a performance goal or budget is </a:t>
            </a: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exhausted and log final values.</a:t>
            </a:r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73" y="5418142"/>
            <a:ext cx="3435727" cy="365818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654" y="6531287"/>
            <a:ext cx="2813427" cy="87014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76775" y="507207"/>
            <a:ext cx="18989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Select random seed</a:t>
            </a:r>
            <a:endParaRPr lang="en-US" sz="10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2" name="Rectangle 91"/>
          <p:cNvSpPr/>
          <p:nvPr/>
        </p:nvSpPr>
        <p:spPr>
          <a:xfrm flipV="1">
            <a:off x="1631951" y="7239863"/>
            <a:ext cx="2940050" cy="1756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476775" y="381001"/>
            <a:ext cx="5874812" cy="7156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435643" y="7721369"/>
            <a:ext cx="591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Select a new random seed and repeat the whole block n times.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Record the performance after each block iteration</a:t>
            </a:r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058" y="8193048"/>
            <a:ext cx="3523838" cy="14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8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71975" y="499587"/>
            <a:ext cx="6396465" cy="240065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Question 1: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As we move instances from U to L, how do we decide where does that instance go (D, V or T)?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Do they all go into D? What happens once the size of D increases too much compared to V and T?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Initial L = 100 instances 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Split 70-10-20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 = 70, V = 10 and T = 20 instances.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After adding 900 new instances to L. What should be the new split for L?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970 – 10 – 20?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Should we maintain the 70-10-20 ratios?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so, how do we choose which instance goes where?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the size of T changes during the B iterations, does this degrade the confidence in our results since the loss values were obtained used different sizes of T?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endParaRPr lang="en-US" sz="1000" dirty="0" smtClean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sz="1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70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6981</TotalTime>
  <Words>362</Words>
  <Application>Microsoft Office PowerPoint</Application>
  <PresentationFormat>A4 Paper (210x297 mm)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CMU Serif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Canelo</dc:creator>
  <cp:lastModifiedBy>Carlos Canelo</cp:lastModifiedBy>
  <cp:revision>48</cp:revision>
  <dcterms:created xsi:type="dcterms:W3CDTF">2024-05-03T17:57:26Z</dcterms:created>
  <dcterms:modified xsi:type="dcterms:W3CDTF">2024-05-17T14:35:32Z</dcterms:modified>
</cp:coreProperties>
</file>